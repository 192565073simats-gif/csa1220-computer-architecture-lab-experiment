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93" r:id="rId3"/>
    <p:sldId id="311" r:id="rId4"/>
    <p:sldId id="312" r:id="rId5"/>
    <p:sldId id="280" r:id="rId6"/>
    <p:sldId id="307" r:id="rId7"/>
    <p:sldId id="269" r:id="rId8"/>
    <p:sldId id="313" r:id="rId9"/>
    <p:sldId id="287" r:id="rId10"/>
    <p:sldId id="314" r:id="rId11"/>
    <p:sldId id="270" r:id="rId12"/>
    <p:sldId id="315" r:id="rId13"/>
    <p:sldId id="299" r:id="rId14"/>
    <p:sldId id="308" r:id="rId15"/>
    <p:sldId id="309" r:id="rId16"/>
    <p:sldId id="273" r:id="rId17"/>
  </p:sldIdLst>
  <p:sldSz cx="12192000" cy="6858000"/>
  <p:notesSz cx="6858000" cy="9144000"/>
  <p:embeddedFontLst>
    <p:embeddedFont>
      <p:font typeface="Algerian" panose="04020705040A02060702" pitchFamily="82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D9FB9BA-7B58-B63E-5BD9-5AEBA9955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B3A01DE0-E28A-BC9A-012F-6BDC8CE1DB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910FA3CD-D20B-7101-4BAF-286EA02FDC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435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162026" y="1795989"/>
            <a:ext cx="10091468" cy="119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Web-Based CPU and Cache Memory Simulator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27004" y="4574527"/>
            <a:ext cx="459970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GUIDED BY:</a:t>
            </a:r>
            <a:br>
              <a:rPr lang="en-US" sz="2400" b="1" dirty="0">
                <a:latin typeface="Times New Roman" panose="02020603050405020304"/>
                <a:cs typeface="Times New Roman" panose="02020603050405020304"/>
              </a:rPr>
            </a:b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Dr. RADHIKA S</a:t>
            </a:r>
            <a:endParaRPr lang="en-US" sz="2400" dirty="0">
              <a:solidFill>
                <a:schemeClr val="dk1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938C93-D074-5CB3-617B-824DAD151B27}"/>
              </a:ext>
            </a:extLst>
          </p:cNvPr>
          <p:cNvSpPr txBox="1"/>
          <p:nvPr/>
        </p:nvSpPr>
        <p:spPr>
          <a:xfrm>
            <a:off x="1752076" y="3023807"/>
            <a:ext cx="8683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CSA-1220 – 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</a:t>
            </a:r>
          </a:p>
        </p:txBody>
      </p:sp>
      <p:pic>
        <p:nvPicPr>
          <p:cNvPr id="3" name="Google Shape;86;p13">
            <a:extLst>
              <a:ext uri="{FF2B5EF4-FFF2-40B4-BE49-F238E27FC236}">
                <a16:creationId xmlns:a16="http://schemas.microsoft.com/office/drawing/2014/main" id="{12EB8B15-BAD5-7796-CF3E-797396202AA4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33742" y="230276"/>
            <a:ext cx="11120284" cy="114456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915D67-CB12-6F11-E128-8A31A419506A}"/>
              </a:ext>
            </a:extLst>
          </p:cNvPr>
          <p:cNvSpPr txBox="1"/>
          <p:nvPr/>
        </p:nvSpPr>
        <p:spPr>
          <a:xfrm>
            <a:off x="7906691" y="4220564"/>
            <a:ext cx="4285309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800" b="1" dirty="0">
                <a:latin typeface="Times New Roman"/>
                <a:cs typeface="Times New Roman"/>
              </a:rPr>
              <a:t>Presented by:</a:t>
            </a:r>
            <a:endParaRPr lang="en-US" b="1" dirty="0"/>
          </a:p>
          <a:p>
            <a:endParaRPr lang="en-IN" sz="1800" b="1" dirty="0">
              <a:latin typeface="Times New Roman"/>
              <a:cs typeface="Times New Roman"/>
            </a:endParaRPr>
          </a:p>
          <a:p>
            <a:r>
              <a:rPr lang="en-IN" sz="1800" dirty="0">
                <a:solidFill>
                  <a:srgbClr val="333333"/>
                </a:solidFill>
                <a:latin typeface="Times New Roman"/>
                <a:cs typeface="Times New Roman"/>
              </a:rPr>
              <a:t>SANJAY KUMAR P(1925565073)</a:t>
            </a:r>
          </a:p>
          <a:p>
            <a:r>
              <a:rPr lang="en-IN" sz="1800" dirty="0">
                <a:solidFill>
                  <a:srgbClr val="333333"/>
                </a:solidFill>
                <a:latin typeface="Times New Roman"/>
                <a:cs typeface="Times New Roman"/>
              </a:rPr>
              <a:t>SHALK YUNUS (192525256)</a:t>
            </a:r>
            <a:endParaRPr lang="en-US" sz="1800" dirty="0">
              <a:latin typeface="Times New Roman"/>
            </a:endParaRPr>
          </a:p>
          <a:p>
            <a:r>
              <a:rPr lang="en-IN" sz="1800" dirty="0">
                <a:solidFill>
                  <a:srgbClr val="333333"/>
                </a:solidFill>
                <a:latin typeface="Times New Roman"/>
                <a:cs typeface="Times New Roman"/>
              </a:rPr>
              <a:t>G LOKESH YADAV(192411061)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4395855" y="266117"/>
            <a:ext cx="306011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ABSTRACT</a:t>
            </a:r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EE52D092-43CB-CA0F-734F-B6B407919EA9}"/>
              </a:ext>
            </a:extLst>
          </p:cNvPr>
          <p:cNvSpPr/>
          <p:nvPr/>
        </p:nvSpPr>
        <p:spPr>
          <a:xfrm>
            <a:off x="561586" y="266117"/>
            <a:ext cx="1078779" cy="1131718"/>
          </a:xfrm>
          <a:custGeom>
            <a:avLst/>
            <a:gdLst/>
            <a:ahLst/>
            <a:cxnLst/>
            <a:rect l="l" t="t" r="r" b="b"/>
            <a:pathLst>
              <a:path w="2346667" h="2522119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15B469-4A9E-2A83-059C-F11FA5971E8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8839" y="266117"/>
            <a:ext cx="1343165" cy="101207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A5A7A92-A094-BEDA-CD23-EE86F147D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180" y="1760189"/>
            <a:ext cx="10659639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web-based simulator to visualize CPU execution and cache memory operations interactively.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CPU pipeline stages (Fetch, Decode, Execute, Memory, Write Back) with real-time animations.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cache memory algorithms such as FIFO and LRU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cache hit and miss performance.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easy-to-use learning platform that enhances understanding of Computer Architecture concepts through graphical visualization.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3">
            <a:extLst>
              <a:ext uri="{FF2B5EF4-FFF2-40B4-BE49-F238E27FC236}">
                <a16:creationId xmlns:a16="http://schemas.microsoft.com/office/drawing/2014/main" id="{7F38ECD3-CEA8-0CD8-8F19-B3A9B106239D}"/>
              </a:ext>
            </a:extLst>
          </p:cNvPr>
          <p:cNvSpPr/>
          <p:nvPr/>
        </p:nvSpPr>
        <p:spPr>
          <a:xfrm>
            <a:off x="523879" y="288007"/>
            <a:ext cx="1078779" cy="1131718"/>
          </a:xfrm>
          <a:custGeom>
            <a:avLst/>
            <a:gdLst/>
            <a:ahLst/>
            <a:cxnLst/>
            <a:rect l="l" t="t" r="r" b="b"/>
            <a:pathLst>
              <a:path w="2346667" h="2522119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18EF56-5C11-3524-B1C9-85C32743D7D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8839" y="266117"/>
            <a:ext cx="1343165" cy="10120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92;p14">
            <a:extLst>
              <a:ext uri="{FF2B5EF4-FFF2-40B4-BE49-F238E27FC236}">
                <a16:creationId xmlns:a16="http://schemas.microsoft.com/office/drawing/2014/main" id="{6C010163-1CB5-B36F-E2F0-88BC0B1DD5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7002" y="369660"/>
            <a:ext cx="4137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07BCA-F57D-1187-66DD-F31F1836045B}"/>
              </a:ext>
            </a:extLst>
          </p:cNvPr>
          <p:cNvSpPr txBox="1"/>
          <p:nvPr/>
        </p:nvSpPr>
        <p:spPr>
          <a:xfrm>
            <a:off x="523879" y="1806135"/>
            <a:ext cx="11253231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 explains how processors execute instructions and manage memory efficiently.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pipeline and cache memory are fundamental concepts that improve system performance but are difficult to visualize.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simulator allows students to observe processor operations directly through an interactive interface.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combines CPU pipeline simulation and cache memory analysis into a single browser-based educational platform.</a:t>
            </a:r>
          </a:p>
        </p:txBody>
      </p:sp>
    </p:spTree>
    <p:extLst>
      <p:ext uri="{BB962C8B-B14F-4D97-AF65-F5344CB8AC3E}">
        <p14:creationId xmlns:p14="http://schemas.microsoft.com/office/powerpoint/2010/main" val="1898831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344ADA53-0855-D3D9-7B42-079747893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72D94027-2DD8-BC8B-878A-F743B5574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64704" y="309033"/>
            <a:ext cx="641291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 &amp; MOTIVATION</a:t>
            </a:r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B65384FF-7496-9B35-1186-44B19B020D72}"/>
              </a:ext>
            </a:extLst>
          </p:cNvPr>
          <p:cNvSpPr/>
          <p:nvPr/>
        </p:nvSpPr>
        <p:spPr>
          <a:xfrm>
            <a:off x="523879" y="288007"/>
            <a:ext cx="1078779" cy="1131718"/>
          </a:xfrm>
          <a:custGeom>
            <a:avLst/>
            <a:gdLst/>
            <a:ahLst/>
            <a:cxnLst/>
            <a:rect l="l" t="t" r="r" b="b"/>
            <a:pathLst>
              <a:path w="2346667" h="2522119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C31486-2DB5-412F-5E64-7E5A002EF748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8839" y="266117"/>
            <a:ext cx="1343165" cy="101207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A4A21FC-A86C-7472-96EA-1B0512767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800" y="1849468"/>
            <a:ext cx="11679200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CPU simulators are often complex, desktop-based, and difficult for beginners to understand.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face challenges in learning CPU pipeline execution and cache memory behavior using traditional methods.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interactive web application that clearly demonstrates processor and cache operations.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simulator aims to improve learning by providing real-time visualization, performance analysis, and easy accessibility through a web browser. </a:t>
            </a:r>
          </a:p>
        </p:txBody>
      </p:sp>
    </p:spTree>
    <p:extLst>
      <p:ext uri="{BB962C8B-B14F-4D97-AF65-F5344CB8AC3E}">
        <p14:creationId xmlns:p14="http://schemas.microsoft.com/office/powerpoint/2010/main" val="1703846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447ED-8476-4B9A-9D16-09715AD95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8F7AB2-3F01-423C-100F-50E1DF699113}"/>
              </a:ext>
            </a:extLst>
          </p:cNvPr>
          <p:cNvSpPr txBox="1"/>
          <p:nvPr/>
        </p:nvSpPr>
        <p:spPr>
          <a:xfrm>
            <a:off x="2910178" y="495299"/>
            <a:ext cx="6571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F39C9C-1BCA-A6D7-1D96-EAC281445FF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0" y="49669"/>
            <a:ext cx="1340485" cy="1141631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E6E442-74D7-5BD0-E540-9606FE71CA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51515" y="0"/>
            <a:ext cx="1340485" cy="1141630"/>
          </a:xfrm>
          <a:prstGeom prst="rect">
            <a:avLst/>
          </a:prstGeom>
          <a:noFill/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3C2630-4732-6BF2-7A08-00C330531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999792"/>
              </p:ext>
            </p:extLst>
          </p:nvPr>
        </p:nvGraphicFramePr>
        <p:xfrm>
          <a:off x="726297" y="1845997"/>
          <a:ext cx="10939041" cy="3905325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1923435">
                  <a:extLst>
                    <a:ext uri="{9D8B030D-6E8A-4147-A177-3AD203B41FA5}">
                      <a16:colId xmlns:a16="http://schemas.microsoft.com/office/drawing/2014/main" val="1200238586"/>
                    </a:ext>
                  </a:extLst>
                </a:gridCol>
                <a:gridCol w="1324230">
                  <a:extLst>
                    <a:ext uri="{9D8B030D-6E8A-4147-A177-3AD203B41FA5}">
                      <a16:colId xmlns:a16="http://schemas.microsoft.com/office/drawing/2014/main" val="3963106053"/>
                    </a:ext>
                  </a:extLst>
                </a:gridCol>
                <a:gridCol w="1684488">
                  <a:extLst>
                    <a:ext uri="{9D8B030D-6E8A-4147-A177-3AD203B41FA5}">
                      <a16:colId xmlns:a16="http://schemas.microsoft.com/office/drawing/2014/main" val="634044401"/>
                    </a:ext>
                  </a:extLst>
                </a:gridCol>
                <a:gridCol w="3176317">
                  <a:extLst>
                    <a:ext uri="{9D8B030D-6E8A-4147-A177-3AD203B41FA5}">
                      <a16:colId xmlns:a16="http://schemas.microsoft.com/office/drawing/2014/main" val="250057862"/>
                    </a:ext>
                  </a:extLst>
                </a:gridCol>
                <a:gridCol w="2830571">
                  <a:extLst>
                    <a:ext uri="{9D8B030D-6E8A-4147-A177-3AD203B41FA5}">
                      <a16:colId xmlns:a16="http://schemas.microsoft.com/office/drawing/2014/main" val="1477724415"/>
                    </a:ext>
                  </a:extLst>
                </a:gridCol>
              </a:tblGrid>
              <a:tr h="270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/ Technologies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669102"/>
                  </a:ext>
                </a:extLst>
              </a:tr>
              <a:tr h="839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Hwang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of CPU and Memory Simulators in Computer Architecture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gem5, CPU simulators, compiler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research-oriented; lacks beginner-friendly web visualization.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886676"/>
                  </a:ext>
                </a:extLst>
              </a:tr>
              <a:tr h="839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Jaros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Simulator of Superscalar RISC-V Processors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GUI, RISC-V, JavaScript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only on RISC-V processors with limited cache visualization.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7556"/>
                  </a:ext>
                </a:extLst>
              </a:tr>
              <a:tr h="947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Liu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CacheSim: A Cache Simulation Framework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C++, Python, CacheSim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for cache evaluation rather than interactive educational learning.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328498"/>
                  </a:ext>
                </a:extLst>
              </a:tr>
              <a:tr h="763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Lee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Gem5-AVX: Extension of the Gem5 Simulator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gem5, AVX, x86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advanced processor simulation but requires significant setup and expertise.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809974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B35D7A-BE28-2819-8147-A49B49BC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3270-E7F7-48E2-AEE8-CD2C191DB7B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7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ferris dir="l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yellow logo&#10;&#10;AI-generated content may be incorrect.">
            <a:extLst>
              <a:ext uri="{FF2B5EF4-FFF2-40B4-BE49-F238E27FC236}">
                <a16:creationId xmlns:a16="http://schemas.microsoft.com/office/drawing/2014/main" id="{644B1334-02D4-E088-F1EE-F43864AD972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35797" y="359635"/>
            <a:ext cx="1340485" cy="1141631"/>
          </a:xfrm>
          <a:prstGeom prst="rect">
            <a:avLst/>
          </a:prstGeom>
          <a:noFill/>
        </p:spPr>
      </p:pic>
      <p:pic>
        <p:nvPicPr>
          <p:cNvPr id="10" name="Picture 9" descr="A logo of a company&#10;&#10;AI-generated content may be incorrect.">
            <a:extLst>
              <a:ext uri="{FF2B5EF4-FFF2-40B4-BE49-F238E27FC236}">
                <a16:creationId xmlns:a16="http://schemas.microsoft.com/office/drawing/2014/main" id="{9A62D61F-A634-078D-92D8-2E4571F5FD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373651" y="271220"/>
            <a:ext cx="1340485" cy="114163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511B81-6670-101B-C590-163F3DB495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831"/>
          <a:stretch>
            <a:fillRect/>
          </a:stretch>
        </p:blipFill>
        <p:spPr>
          <a:xfrm>
            <a:off x="1832464" y="1274131"/>
            <a:ext cx="8527072" cy="54721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08F48D-C1C0-1DED-6A80-98E45243EFFF}"/>
              </a:ext>
            </a:extLst>
          </p:cNvPr>
          <p:cNvSpPr txBox="1"/>
          <p:nvPr/>
        </p:nvSpPr>
        <p:spPr>
          <a:xfrm>
            <a:off x="2910178" y="495299"/>
            <a:ext cx="6571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301353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3AAD-365C-0604-ECF9-5C4B37D04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570" y="536971"/>
            <a:ext cx="8832212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WEB INTERFACE DESIGN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99C0C-D659-0716-EB17-E2F573940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913" y="2310022"/>
            <a:ext cx="10515600" cy="4796591"/>
          </a:xfrm>
        </p:spPr>
        <p:txBody>
          <a:bodyPr>
            <a:normAutofit/>
          </a:bodyPr>
          <a:lstStyle/>
          <a:p>
            <a:pPr marL="11430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/>
          </a:p>
          <a:p>
            <a:endParaRPr lang="en-IN"/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C4154376-1507-69A7-1A17-79FC5227A6BD}"/>
              </a:ext>
            </a:extLst>
          </p:cNvPr>
          <p:cNvSpPr/>
          <p:nvPr/>
        </p:nvSpPr>
        <p:spPr>
          <a:xfrm>
            <a:off x="523879" y="265596"/>
            <a:ext cx="1078779" cy="1008453"/>
          </a:xfrm>
          <a:custGeom>
            <a:avLst/>
            <a:gdLst/>
            <a:ahLst/>
            <a:cxnLst/>
            <a:rect l="l" t="t" r="r" b="b"/>
            <a:pathLst>
              <a:path w="2346667" h="2522119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E3C6EE-3D51-838E-2FEC-97EC0B172E0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8839" y="266117"/>
            <a:ext cx="1343165" cy="101207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C8D459-BC63-3055-C484-B51BAD71AA07}"/>
              </a:ext>
            </a:extLst>
          </p:cNvPr>
          <p:cNvSpPr txBox="1"/>
          <p:nvPr/>
        </p:nvSpPr>
        <p:spPr>
          <a:xfrm>
            <a:off x="1063268" y="1964915"/>
            <a:ext cx="8616425" cy="477053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attractive and interactive web interface for CPU and cache simulation.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responsive web pages.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processor configuration options.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instruction execution graphically.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cache statistics dynamically.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Implementation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</a:p>
          <a:p>
            <a:pPr algn="just"/>
            <a:endParaRPr lang="en-US" sz="2400" b="1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37EBAB-D731-0DCD-4990-8BE5BBFD6132}"/>
              </a:ext>
            </a:extLst>
          </p:cNvPr>
          <p:cNvSpPr txBox="1"/>
          <p:nvPr/>
        </p:nvSpPr>
        <p:spPr>
          <a:xfrm>
            <a:off x="6662803" y="3041117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visualization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visualization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 panel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buttons 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navigation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processor visualization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learning experience</a:t>
            </a:r>
          </a:p>
        </p:txBody>
      </p:sp>
    </p:spTree>
    <p:extLst>
      <p:ext uri="{BB962C8B-B14F-4D97-AF65-F5344CB8AC3E}">
        <p14:creationId xmlns:p14="http://schemas.microsoft.com/office/powerpoint/2010/main" val="1559203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421F6-78C0-02DA-2182-9D37C5D87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480035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32E7D7-318D-E22C-68D6-F45376DFF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644" y="1555422"/>
            <a:ext cx="9540711" cy="474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46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3">
            <a:extLst>
              <a:ext uri="{FF2B5EF4-FFF2-40B4-BE49-F238E27FC236}">
                <a16:creationId xmlns:a16="http://schemas.microsoft.com/office/drawing/2014/main" id="{9E598DC4-3334-44F6-A608-D5674A4070CF}"/>
              </a:ext>
            </a:extLst>
          </p:cNvPr>
          <p:cNvSpPr/>
          <p:nvPr/>
        </p:nvSpPr>
        <p:spPr>
          <a:xfrm>
            <a:off x="327234" y="266738"/>
            <a:ext cx="1078779" cy="1019660"/>
          </a:xfrm>
          <a:custGeom>
            <a:avLst/>
            <a:gdLst/>
            <a:ahLst/>
            <a:cxnLst/>
            <a:rect l="l" t="t" r="r" b="b"/>
            <a:pathLst>
              <a:path w="2346667" h="2522119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1B79F3-1F05-4BD4-2425-99C70DA6127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843" y="275646"/>
            <a:ext cx="1387988" cy="91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CFD16AF2-A4F9-7544-A297-E0AEA9501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339" y="288253"/>
            <a:ext cx="8421141" cy="125883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CPU PIPELINE SIMULATION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F182D3-2F87-9AB5-8FA5-4F9A1794EDE7}"/>
              </a:ext>
            </a:extLst>
          </p:cNvPr>
          <p:cNvSpPr txBox="1"/>
          <p:nvPr/>
        </p:nvSpPr>
        <p:spPr>
          <a:xfrm>
            <a:off x="7030720" y="1873373"/>
            <a:ext cx="6096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Implementation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simulation engine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queue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registers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controller 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CPI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utilization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cycles 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CPU execution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of instruction flow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2F6F0D-E6E9-EBEF-3A00-6054DE793063}"/>
              </a:ext>
            </a:extLst>
          </p:cNvPr>
          <p:cNvSpPr txBox="1"/>
          <p:nvPr/>
        </p:nvSpPr>
        <p:spPr>
          <a:xfrm>
            <a:off x="1193250" y="1977457"/>
            <a:ext cx="55448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instruction execution through CPU pipeline stages.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simulator processes instructions sequentially through: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Fetch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Decode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Access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Back 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execution is animated with timing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2921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1FB8D-1C93-CEEF-638D-8D668FF9F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498889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10944E-C1BF-E4B3-B3C8-66B108A63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239" y="1536568"/>
            <a:ext cx="9203703" cy="458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33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C5417-6C7F-5D53-D424-60C5FDB84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757" y="360490"/>
            <a:ext cx="8858485" cy="1325563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CACHE MEMORY SIMULATION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13">
            <a:extLst>
              <a:ext uri="{FF2B5EF4-FFF2-40B4-BE49-F238E27FC236}">
                <a16:creationId xmlns:a16="http://schemas.microsoft.com/office/drawing/2014/main" id="{ECAECE4F-3B5E-FCA2-91BB-791F57ECABF1}"/>
              </a:ext>
            </a:extLst>
          </p:cNvPr>
          <p:cNvSpPr/>
          <p:nvPr/>
        </p:nvSpPr>
        <p:spPr>
          <a:xfrm>
            <a:off x="523879" y="265596"/>
            <a:ext cx="1134808" cy="1008453"/>
          </a:xfrm>
          <a:custGeom>
            <a:avLst/>
            <a:gdLst/>
            <a:ahLst/>
            <a:cxnLst/>
            <a:rect l="l" t="t" r="r" b="b"/>
            <a:pathLst>
              <a:path w="2346667" h="2522119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53E47D-E869-2898-7851-5B37875E454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8839" y="266117"/>
            <a:ext cx="1343165" cy="10120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95B28C-93F3-5680-BA64-428734F717EF}"/>
              </a:ext>
            </a:extLst>
          </p:cNvPr>
          <p:cNvSpPr txBox="1"/>
          <p:nvPr/>
        </p:nvSpPr>
        <p:spPr>
          <a:xfrm>
            <a:off x="753411" y="1686053"/>
            <a:ext cx="6096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cache memory behavior and replacement algorithms.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simulator accepts memory references and performs: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lookup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Replacement algorithm execution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calculation 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6590E0-27F7-0DF5-580B-4733B2E61E71}"/>
              </a:ext>
            </a:extLst>
          </p:cNvPr>
          <p:cNvSpPr txBox="1"/>
          <p:nvPr/>
        </p:nvSpPr>
        <p:spPr>
          <a:xfrm>
            <a:off x="7570839" y="1794044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Implementation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blocks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memory representation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visualization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Hit/Miss animation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statistics 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Hit Ratio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 Ratio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Time 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7C670B-F79E-91CA-E2F3-AE226E837FFD}"/>
              </a:ext>
            </a:extLst>
          </p:cNvPr>
          <p:cNvSpPr txBox="1"/>
          <p:nvPr/>
        </p:nvSpPr>
        <p:spPr>
          <a:xfrm>
            <a:off x="4094480" y="4960667"/>
            <a:ext cx="66141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Expected Outcome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Clear understanding of cache operation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Comparison of replacement algorithms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Performance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Interactive visualization</a:t>
            </a:r>
          </a:p>
        </p:txBody>
      </p:sp>
    </p:spTree>
    <p:extLst>
      <p:ext uri="{BB962C8B-B14F-4D97-AF65-F5344CB8AC3E}">
        <p14:creationId xmlns:p14="http://schemas.microsoft.com/office/powerpoint/2010/main" val="4095631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96067-B12A-AB7F-CA0E-3E7B72B6E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677998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B4717B-58BC-FA10-70AC-1E1598505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52" y="1483299"/>
            <a:ext cx="9247695" cy="485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351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EBAF4-685E-018B-A80D-814C676A1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8794" y="331343"/>
            <a:ext cx="4034411" cy="129194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D2DBEE1B-3112-89DD-92D7-69743ED23261}"/>
              </a:ext>
            </a:extLst>
          </p:cNvPr>
          <p:cNvSpPr/>
          <p:nvPr/>
        </p:nvSpPr>
        <p:spPr>
          <a:xfrm>
            <a:off x="604571" y="331343"/>
            <a:ext cx="1078779" cy="1131718"/>
          </a:xfrm>
          <a:custGeom>
            <a:avLst/>
            <a:gdLst/>
            <a:ahLst/>
            <a:cxnLst/>
            <a:rect l="l" t="t" r="r" b="b"/>
            <a:pathLst>
              <a:path w="2346667" h="2522119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36017B-520D-2E78-7E0A-E1E63669BB4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020" y="331343"/>
            <a:ext cx="1343165" cy="101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E11C92-B1E5-A57B-0862-B02161346812}"/>
              </a:ext>
            </a:extLst>
          </p:cNvPr>
          <p:cNvSpPr txBox="1"/>
          <p:nvPr/>
        </p:nvSpPr>
        <p:spPr>
          <a:xfrm>
            <a:off x="972216" y="2164624"/>
            <a:ext cx="10817862" cy="33499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algn="just">
              <a:lnSpc>
                <a:spcPct val="150000"/>
              </a:lnSpc>
              <a:buFont typeface="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Advanced Web-Based CPU and Cache Memory Simulator provides an effective educational platform for understanding processor architecture concepts. </a:t>
            </a:r>
          </a:p>
          <a:p>
            <a:pPr marL="228600" indent="-228600" algn="just">
              <a:lnSpc>
                <a:spcPct val="150000"/>
              </a:lnSpc>
              <a:buFont typeface="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interactive visualizations, CPU pipeline simulation, cache memory analysis, and performance evaluation, users gain practical knowledge of processor operations. </a:t>
            </a:r>
          </a:p>
          <a:p>
            <a:pPr marL="228600" indent="-228600" algn="just">
              <a:lnSpc>
                <a:spcPct val="150000"/>
              </a:lnSpc>
              <a:buFont typeface="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browser-based design enhances accessibility and simplifies learning without requiring specialized software installations.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870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B89CB7-8EB4-4A6E-07C0-845DDE34C764}"/>
              </a:ext>
            </a:extLst>
          </p:cNvPr>
          <p:cNvSpPr txBox="1"/>
          <p:nvPr/>
        </p:nvSpPr>
        <p:spPr>
          <a:xfrm>
            <a:off x="3878825" y="621694"/>
            <a:ext cx="4129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00966FC-9D04-BDCA-AA25-4DFAB2549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268" y="1794555"/>
            <a:ext cx="10736826" cy="4151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Multi-core CPU simulation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prediction visualization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simulation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cache replacement algorithms (LFU, ARC)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benchmarking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RISC-V instruction support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architecture support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performance optimization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reeform 13">
            <a:extLst>
              <a:ext uri="{FF2B5EF4-FFF2-40B4-BE49-F238E27FC236}">
                <a16:creationId xmlns:a16="http://schemas.microsoft.com/office/drawing/2014/main" id="{FEE6B5C3-7562-82E4-4C97-4D21AC3F698B}"/>
              </a:ext>
            </a:extLst>
          </p:cNvPr>
          <p:cNvSpPr/>
          <p:nvPr/>
        </p:nvSpPr>
        <p:spPr>
          <a:xfrm>
            <a:off x="523879" y="317503"/>
            <a:ext cx="1078779" cy="1131718"/>
          </a:xfrm>
          <a:custGeom>
            <a:avLst/>
            <a:gdLst/>
            <a:ahLst/>
            <a:cxnLst/>
            <a:rect l="l" t="t" r="r" b="b"/>
            <a:pathLst>
              <a:path w="2346667" h="2522119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5B4472-9ECE-39A4-18F6-81E589F4C81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9341" y="317503"/>
            <a:ext cx="1343165" cy="10120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4470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65224F-416C-7DD9-2837-D22D0656E941}"/>
              </a:ext>
            </a:extLst>
          </p:cNvPr>
          <p:cNvSpPr txBox="1"/>
          <p:nvPr/>
        </p:nvSpPr>
        <p:spPr>
          <a:xfrm>
            <a:off x="4142996" y="433261"/>
            <a:ext cx="3991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0E9D8F-593B-CE79-7BC2-9B04112C1E89}"/>
              </a:ext>
            </a:extLst>
          </p:cNvPr>
          <p:cNvSpPr txBox="1"/>
          <p:nvPr/>
        </p:nvSpPr>
        <p:spPr>
          <a:xfrm>
            <a:off x="536154" y="1460386"/>
            <a:ext cx="1120558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Hwang, I., Lee, J., Kang, H., Lee, G., &amp; Kim, H. A. (2025).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of CPU and memory simulators in computer architecture: A comprehensive analysis including compiler integration and emerging technology applications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Modelling Practice and Theory, 138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103032. https://doi.org/10.1016/j.simpat.2024.103032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Liu, J., Chen, Y., &amp; Ding, H. (2025).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CacheSim: A cache simulation framework for evaluating caching algorithms on resource-constrained edge devices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SoftwareX, 29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102018. https://doi.org/10.1016/j.softx.2024.102018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Lee, S., Kim, Y., Nam, D., &amp; Kim, J. (2024).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Gem5-AVX: Extension of the gem5 simulator to support AVX instruction sets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Access, 12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20767–20778. https://doi.org/10.1109/ACCESS.2024.3359296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Jaros, J., Majer, M., Horky, J., &amp; Vavra, J. (2024).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Simulator of Superscalar RISC-V Processors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IEEE/SC Workshop Proceedings. </a:t>
            </a:r>
          </a:p>
        </p:txBody>
      </p:sp>
      <p:sp>
        <p:nvSpPr>
          <p:cNvPr id="3" name="Freeform 13">
            <a:extLst>
              <a:ext uri="{FF2B5EF4-FFF2-40B4-BE49-F238E27FC236}">
                <a16:creationId xmlns:a16="http://schemas.microsoft.com/office/drawing/2014/main" id="{51DC75AE-93D4-37C9-D3E4-FA23F6D3763D}"/>
              </a:ext>
            </a:extLst>
          </p:cNvPr>
          <p:cNvSpPr/>
          <p:nvPr/>
        </p:nvSpPr>
        <p:spPr>
          <a:xfrm>
            <a:off x="580272" y="221345"/>
            <a:ext cx="1078779" cy="1131718"/>
          </a:xfrm>
          <a:custGeom>
            <a:avLst/>
            <a:gdLst/>
            <a:ahLst/>
            <a:cxnLst/>
            <a:rect l="l" t="t" r="r" b="b"/>
            <a:pathLst>
              <a:path w="2346667" h="2522119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AC3595-5C26-A807-1EB7-0DC8A58139A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8838" y="221345"/>
            <a:ext cx="1343165" cy="10120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4565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28952" y="2897339"/>
            <a:ext cx="6023203" cy="1219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000">
                <a:solidFill>
                  <a:srgbClr val="00ACEC"/>
                </a:solidFill>
                <a:latin typeface="Algerian" panose="04020705040A02060702" pitchFamily="82" charset="0"/>
                <a:ea typeface="Times New Roman"/>
                <a:cs typeface="Times New Roman"/>
                <a:sym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902</Words>
  <Application>Microsoft Office PowerPoint</Application>
  <PresentationFormat>Widescreen</PresentationFormat>
  <Paragraphs>153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Times New Roman</vt:lpstr>
      <vt:lpstr>Algerian</vt:lpstr>
      <vt:lpstr>Arial</vt:lpstr>
      <vt:lpstr>Office Theme</vt:lpstr>
      <vt:lpstr>Advanced Web-Based CPU and Cache Memory Simulator</vt:lpstr>
      <vt:lpstr>ABSTRACT</vt:lpstr>
      <vt:lpstr>INTRODUCTION</vt:lpstr>
      <vt:lpstr>PROBLEM STATEMENT &amp; MOTIVATION</vt:lpstr>
      <vt:lpstr>PowerPoint Presentation</vt:lpstr>
      <vt:lpstr>PowerPoint Presentation</vt:lpstr>
      <vt:lpstr>MODULE 1 – WEB INTERFACE DESIGN</vt:lpstr>
      <vt:lpstr>OUTPUT</vt:lpstr>
      <vt:lpstr>MODULE 2 – CPU PIPELINE SIMULATION</vt:lpstr>
      <vt:lpstr>OUTPUT</vt:lpstr>
      <vt:lpstr> MODULE 3 – CACHE MEMORY SIMULATION</vt:lpstr>
      <vt:lpstr>OUTPUT</vt:lpstr>
      <vt:lpstr>CONCLUSION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Analog Waves to LED Bits: Real-Time PCM Encoding Adventure</dc:title>
  <dc:creator>kunre</dc:creator>
  <cp:lastModifiedBy>SANJAY KUMAR P</cp:lastModifiedBy>
  <cp:revision>7</cp:revision>
  <dcterms:created xsi:type="dcterms:W3CDTF">2025-09-12T07:45:20Z</dcterms:created>
  <dcterms:modified xsi:type="dcterms:W3CDTF">2026-08-03T07:44:53Z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C990EB765FA64AFBBE699728BE0DDC19_13</vt:lpwstr>
  </property>
  <property fmtid="{D5CDD505-2E9C-101B-9397-08002B2CF9AE}" pid="3" name="KSOProductBuildVer">
    <vt:lpwstr>1033-12.2.0.21931</vt:lpwstr>
  </property>
</Properties>
</file>